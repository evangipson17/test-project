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20" b="1">
                <a:solidFill>
                  <a:srgbClr val="3FC1C9"/>
                </a:solidFill>
                <a:latin typeface="Montserrat"/>
              </a:rPr>
              <a:t>AQUA SIGHT</a:t>
            </a:r>
          </a:p>
          <a:p>
            <a:r>
              <a:rPr sz="202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3460" b="1">
                <a:solidFill>
                  <a:srgbClr val="FFFFFF"/>
                </a:solidFill>
                <a:latin typeface="Montserrat"/>
              </a:rPr>
              <a:t>Eyes under the water.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80" b="0">
                <a:solidFill>
                  <a:srgbClr val="3FC1C9"/>
                </a:solidFill>
                <a:latin typeface="Inter"/>
              </a:rPr>
              <a:t>Portable AI drowning detection for community pools</a:t>
            </a:r>
          </a:p>
          <a:p>
            <a:r>
              <a:rPr sz="1580" b="0">
                <a:solidFill>
                  <a:srgbClr val="3FC1C9"/>
                </a:solidFill>
                <a:latin typeface="Inter"/>
              </a:rPr>
              <a:t>[School Name]  |  [Presenter Names]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0">
                <a:solidFill>
                  <a:srgbClr val="3FC1C9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0" b="1">
                <a:solidFill>
                  <a:srgbClr val="0B3D5C"/>
                </a:solidFill>
                <a:latin typeface="Montserrat"/>
              </a:rPr>
              <a:t>Sales Pitch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1">
                <a:solidFill>
                  <a:srgbClr val="0B3D5C"/>
                </a:solidFill>
                <a:latin typeface="Montserrat"/>
              </a:rPr>
              <a:t>AQUA 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3284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FC1C9"/>
                </a:solidFill>
                <a:latin typeface="Montserrat"/>
              </a:rPr>
              <a:t>01</a:t>
            </a:r>
          </a:p>
          <a:p>
            <a:r>
              <a:rPr sz="115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580" b="1">
                <a:solidFill>
                  <a:srgbClr val="0B3D5C"/>
                </a:solidFill>
                <a:latin typeface="Montserrat"/>
              </a:rPr>
              <a:t>The Problem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>About 11 Americans drown every day. It's the #1 cause of death for kids ages 1 to 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097280"/>
            <a:ext cx="33284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2272" y="128016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FC1C9"/>
                </a:solidFill>
                <a:latin typeface="Montserrat"/>
              </a:rPr>
              <a:t>02</a:t>
            </a:r>
          </a:p>
          <a:p>
            <a:r>
              <a:rPr sz="115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580" b="1">
                <a:solidFill>
                  <a:srgbClr val="0B3D5C"/>
                </a:solidFill>
                <a:latin typeface="Montserrat"/>
              </a:rPr>
              <a:t>The Market Gap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>About 1 in 3 U.S. public pools has been hit by the lifeguard shortage, and detection systems cost $50,000+.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27264" y="1097280"/>
            <a:ext cx="33284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28016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FC1C9"/>
                </a:solidFill>
                <a:latin typeface="Montserrat"/>
              </a:rPr>
              <a:t>03</a:t>
            </a:r>
          </a:p>
          <a:p>
            <a:r>
              <a:rPr sz="115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580" b="1">
                <a:solidFill>
                  <a:srgbClr val="0B3D5C"/>
                </a:solidFill>
                <a:latin typeface="Montserrat"/>
              </a:rPr>
              <a:t>Our Solution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>Smart wristbands plus AI underwater cameras that warn lifeguards before a swimmer goes under.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33284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FC1C9"/>
                </a:solidFill>
                <a:latin typeface="Montserrat"/>
              </a:rPr>
              <a:t>04</a:t>
            </a:r>
          </a:p>
          <a:p>
            <a:r>
              <a:rPr sz="115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580" b="1">
                <a:solidFill>
                  <a:srgbClr val="0B3D5C"/>
                </a:solidFill>
                <a:latin typeface="Montserrat"/>
              </a:rPr>
              <a:t>How It Works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>Three layers of detection: surface behavior, wristband sensors, and camera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3566160"/>
            <a:ext cx="33284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374904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FC1C9"/>
                </a:solidFill>
                <a:latin typeface="Montserrat"/>
              </a:rPr>
              <a:t>05</a:t>
            </a:r>
          </a:p>
          <a:p>
            <a:r>
              <a:rPr sz="115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580" b="1">
                <a:solidFill>
                  <a:srgbClr val="0B3D5C"/>
                </a:solidFill>
                <a:latin typeface="Montserrat"/>
              </a:rPr>
              <a:t>Why We Win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>The only portable system combining wristbands and cameras. No construction. No video recorded.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7264" y="3566160"/>
            <a:ext cx="3328416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0144" y="374904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3FC1C9"/>
                </a:solidFill>
                <a:latin typeface="Montserrat"/>
              </a:rPr>
              <a:t>06</a:t>
            </a:r>
          </a:p>
          <a:p>
            <a:r>
              <a:rPr sz="115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580" b="1">
                <a:solidFill>
                  <a:srgbClr val="0B3D5C"/>
                </a:solidFill>
                <a:latin typeface="Montserrat"/>
              </a:rPr>
              <a:t>The Ask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>$150,000 for 15% equity ($1M post-money valuation).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0">
                <a:solidFill>
                  <a:srgbClr val="4A5568"/>
                </a:solidFill>
                <a:latin typeface="Inter"/>
              </a:rPr>
              <a:t>Market research: [ADD SURVEY RESULT, e.g., 'X of Y pool staff surveyed said they would want this at their pool']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465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0">
                <a:solidFill>
                  <a:srgbClr val="4A5568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1">
                <a:solidFill>
                  <a:srgbClr val="0B3D5C"/>
                </a:solidFill>
                <a:latin typeface="Montserrat"/>
              </a:rPr>
              <a:t>AQUA 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80" b="1">
                <a:solidFill>
                  <a:srgbClr val="0B3D5C"/>
                </a:solidFill>
                <a:latin typeface="Montserrat"/>
              </a:rPr>
              <a:t>Aqua Sight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>Three devices. Three layers of detection. One alarm that comes in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475488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40" b="0">
                <a:solidFill>
                  <a:srgbClr val="0B3D5C"/>
                </a:solidFill>
                <a:latin typeface="Montserrat"/>
              </a:rPr>
              <a:t>[ RENDER D: HERO SHOT ]</a:t>
            </a:r>
          </a:p>
          <a:p>
            <a:r>
              <a:rPr sz="1440" b="0">
                <a:solidFill>
                  <a:srgbClr val="0B3D5C"/>
                </a:solidFill>
                <a:latin typeface="Montserrat"/>
              </a:rPr>
              <a:t/>
            </a:r>
          </a:p>
          <a:p>
            <a:r>
              <a:rPr sz="1440" b="0">
                <a:solidFill>
                  <a:srgbClr val="0B3D5C"/>
                </a:solidFill>
                <a:latin typeface="Montserrat"/>
              </a:rPr>
              <a:t>1. Smart Wristband</a:t>
            </a:r>
          </a:p>
          <a:p>
            <a:r>
              <a:rPr sz="1440" b="0">
                <a:solidFill>
                  <a:srgbClr val="0B3D5C"/>
                </a:solidFill>
                <a:latin typeface="Montserrat"/>
              </a:rPr>
              <a:t>2. Underwater AI Camera</a:t>
            </a:r>
          </a:p>
          <a:p>
            <a:r>
              <a:rPr sz="1440" b="0">
                <a:solidFill>
                  <a:srgbClr val="0B3D5C"/>
                </a:solidFill>
                <a:latin typeface="Montserrat"/>
              </a:rPr>
              <a:t>3. Deck Hub</a:t>
            </a:r>
          </a:p>
          <a:p>
            <a:r>
              <a:rPr sz="1440" b="0">
                <a:solidFill>
                  <a:srgbClr val="0B3D5C"/>
                </a:solidFill>
                <a:latin typeface="Montserrat"/>
              </a:rPr>
              <a:t/>
            </a:r>
          </a:p>
          <a:p>
            <a:r>
              <a:rPr sz="1440" b="0">
                <a:solidFill>
                  <a:srgbClr val="0B3D5C"/>
                </a:solidFill>
                <a:latin typeface="Montserrat"/>
              </a:rPr>
              <a:t>(Clamps onto any pool in 15 mins. No construction.)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18872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30" b="1">
                <a:solidFill>
                  <a:srgbClr val="0B3D5C"/>
                </a:solidFill>
                <a:latin typeface="Montserrat"/>
              </a:rPr>
              <a:t>How Aqua Sight detects drowning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300" b="1">
                <a:solidFill>
                  <a:srgbClr val="0B3D5C"/>
                </a:solidFill>
                <a:latin typeface="Inter"/>
              </a:rPr>
              <a:t>Layer 1: Surface Behavior AI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>Cameras recognize Instinctive Drowning Response: body vertical, head back, arms pressing down. Warns lifeguards BEFORE submersion.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300" b="1">
                <a:solidFill>
                  <a:srgbClr val="0B3D5C"/>
                </a:solidFill>
                <a:latin typeface="Inter"/>
              </a:rPr>
              <a:t>Layer 2: Smart Wristband Sensors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>Tracks time underwater, sinking speed, and arm stoppage. Beginner &amp; toddler bands trigger faster.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300" b="1">
                <a:solidFill>
                  <a:srgbClr val="0B3D5C"/>
                </a:solidFill>
                <a:latin typeface="Inter"/>
              </a:rPr>
              <a:t>Layer 3: Multi-Camera Confirmation</a:t>
            </a:r>
          </a:p>
          <a:p>
            <a:r>
              <a:rPr sz="1300" b="0">
                <a:solidFill>
                  <a:srgbClr val="4A5568"/>
                </a:solidFill>
                <a:latin typeface="Inter"/>
              </a:rPr>
              <a:t>Cross-checks swimmer position &amp; confirms head depth. Catches swimmers on bottom, band or no band.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3566160" cy="512064"/>
          </a:xfrm>
          <a:prstGeom prst="rect">
            <a:avLst/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80" b="1">
                <a:solidFill>
                  <a:srgbClr val="FFFFFF"/>
                </a:solidFill>
                <a:latin typeface="Inter"/>
              </a:rPr>
              <a:t>SAFE: Normal swimming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5303520"/>
            <a:ext cx="3566160" cy="512064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80" b="1">
                <a:solidFill>
                  <a:srgbClr val="0B3D5C"/>
                </a:solidFill>
                <a:latin typeface="Inter"/>
              </a:rPr>
              <a:t>WATCH: Smartwatch buzzes 'Check lane 3'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5303520"/>
            <a:ext cx="3566160" cy="512064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80" b="1">
                <a:solidFill>
                  <a:srgbClr val="FFFFFF"/>
                </a:solidFill>
                <a:latin typeface="Inter"/>
              </a:rPr>
              <a:t>ALARM: Siren, strobe, exact spot on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0">
                <a:solidFill>
                  <a:srgbClr val="4A5568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1">
                <a:solidFill>
                  <a:srgbClr val="0B3D5C"/>
                </a:solidFill>
                <a:latin typeface="Montserrat"/>
              </a:rPr>
              <a:t>AQUA 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0" b="1">
                <a:solidFill>
                  <a:srgbClr val="0B3D5C"/>
                </a:solidFill>
                <a:latin typeface="Montserrat"/>
              </a:rPr>
              <a:t>Product Cost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32841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29626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1">
                <a:solidFill>
                  <a:srgbClr val="4A5568"/>
                </a:solidFill>
                <a:latin typeface="Inter"/>
              </a:rPr>
              <a:t>BUY</a:t>
            </a:r>
          </a:p>
          <a:p>
            <a:r>
              <a:rPr sz="2590" b="1">
                <a:solidFill>
                  <a:srgbClr val="0B3D5C"/>
                </a:solidFill>
                <a:latin typeface="Montserrat"/>
              </a:rPr>
              <a:t>$9,999</a:t>
            </a:r>
          </a:p>
          <a:p>
            <a:r>
              <a:rPr sz="1080" b="0">
                <a:solidFill>
                  <a:srgbClr val="4A5568"/>
                </a:solidFill>
                <a:latin typeface="Inter"/>
              </a:rPr>
              <a:t>one time + $99/mo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005840"/>
            <a:ext cx="3328416" cy="1188720"/>
          </a:xfrm>
          <a:prstGeom prst="roundRect">
            <a:avLst>
              <a:gd name="adj" fmla="val 6000"/>
            </a:avLst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2272" y="1097280"/>
            <a:ext cx="29626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1">
                <a:solidFill>
                  <a:srgbClr val="3FC1C9"/>
                </a:solidFill>
                <a:latin typeface="Inter"/>
              </a:rPr>
              <a:t>SUBSCRIBE</a:t>
            </a:r>
          </a:p>
          <a:p>
            <a:r>
              <a:rPr sz="2590" b="1">
                <a:solidFill>
                  <a:srgbClr val="FFFFFF"/>
                </a:solidFill>
                <a:latin typeface="Montserrat"/>
              </a:rPr>
              <a:t>$399</a:t>
            </a:r>
          </a:p>
          <a:p>
            <a:r>
              <a:rPr sz="1080" b="0">
                <a:solidFill>
                  <a:srgbClr val="FFFFFF"/>
                </a:solidFill>
                <a:latin typeface="Inter"/>
              </a:rPr>
              <a:t>per month, $0 upfront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27264" y="1005840"/>
            <a:ext cx="3328416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0144" y="1097280"/>
            <a:ext cx="29626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1">
                <a:solidFill>
                  <a:srgbClr val="4A5568"/>
                </a:solidFill>
                <a:latin typeface="Inter"/>
              </a:rPr>
              <a:t>RENT</a:t>
            </a:r>
          </a:p>
          <a:p>
            <a:r>
              <a:rPr sz="2590" b="1">
                <a:solidFill>
                  <a:srgbClr val="0B3D5C"/>
                </a:solidFill>
                <a:latin typeface="Montserrat"/>
              </a:rPr>
              <a:t>$299</a:t>
            </a:r>
          </a:p>
          <a:p>
            <a:r>
              <a:rPr sz="1080" b="0">
                <a:solidFill>
                  <a:srgbClr val="4A5568"/>
                </a:solidFill>
                <a:latin typeface="Inter"/>
              </a:rPr>
              <a:t>per weekend (meets/camps)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5486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 b="1">
                <a:solidFill>
                  <a:srgbClr val="0B3D5C"/>
                </a:solidFill>
                <a:latin typeface="Inter"/>
              </a:rPr>
              <a:t>Unit Cost to Make (One Full Kit):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4 underwater AI camera pods ($395 ea): $1,580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1 deck hub with siren &amp; alarm: $200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100 smart wristbands ($22 ea): $2,200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2 band charging racks: $180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Carry case and packaging: $120</a:t>
            </a:r>
          </a:p>
          <a:p>
            <a:r>
              <a:rPr sz="1220" b="1">
                <a:solidFill>
                  <a:srgbClr val="0B3D5C"/>
                </a:solidFill>
                <a:latin typeface="Inter"/>
              </a:rPr>
              <a:t>TOTAL COST PER KIT: $4,280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(Plus $350 setup &amp; staff training per pool)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20" b="1">
                <a:solidFill>
                  <a:srgbClr val="0B3D5C"/>
                </a:solidFill>
                <a:latin typeface="Inter"/>
              </a:rPr>
              <a:t>Subscription Profitability: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$399 monthly price minus $40 cloud/warranty costs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Net: $359 per month per kit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Kit + setup ($4,630) paid back in ~13 months, then pure margin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Purchase Margin: $5,369 per system (54%, after setup)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Rental Margin: $224 profit per weekend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80" b="1">
                <a:solidFill>
                  <a:srgbClr val="0B3D5C"/>
                </a:solidFill>
                <a:latin typeface="Inter"/>
              </a:rPr>
              <a:t>Competitive Benchmarks:</a:t>
            </a:r>
          </a:p>
          <a:p>
            <a:r>
              <a:rPr sz="1080" b="0">
                <a:solidFill>
                  <a:srgbClr val="4A5568"/>
                </a:solidFill>
                <a:latin typeface="Inter"/>
              </a:rPr>
              <a:t>• German municipal pool system: €50,000 for AI cameras</a:t>
            </a:r>
          </a:p>
          <a:p>
            <a:r>
              <a:rPr sz="1080" b="0">
                <a:solidFill>
                  <a:srgbClr val="4A5568"/>
                </a:solidFill>
                <a:latin typeface="Inter"/>
              </a:rPr>
              <a:t>• U.S. school district system: $253,837 total cost</a:t>
            </a:r>
          </a:p>
          <a:p>
            <a:r>
              <a:rPr sz="1080" b="0">
                <a:solidFill>
                  <a:srgbClr val="4A5568"/>
                </a:solidFill>
                <a:latin typeface="Inter"/>
              </a:rPr>
              <a:t>• Competitor WAVE: up to $399/mo (wearables only)</a:t>
            </a:r>
          </a:p>
          <a:p>
            <a:r>
              <a:rPr sz="1080" b="0">
                <a:solidFill>
                  <a:srgbClr val="4A5568"/>
                </a:solidFill>
                <a:latin typeface="Inter"/>
              </a:rPr>
              <a:t>• Aqua Sight: $399/mo (cameras + 100 bands included)</a:t>
            </a:r>
          </a:p>
          <a:p>
            <a:r>
              <a:rPr sz="1080" b="0">
                <a:solidFill>
                  <a:srgbClr val="4A5568"/>
                </a:solidFill>
                <a:latin typeface="Inter"/>
              </a:rPr>
              <a:t>Sources: KölnBäder; Fort Wayne Journal Gazette; WAVE published pricing.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465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0">
                <a:solidFill>
                  <a:srgbClr val="4A5568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1">
                <a:solidFill>
                  <a:srgbClr val="3FC1C9"/>
                </a:solidFill>
                <a:latin typeface="Montserrat"/>
              </a:rPr>
              <a:t>AQUA 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0" b="1">
                <a:solidFill>
                  <a:srgbClr val="FFFFFF"/>
                </a:solidFill>
                <a:latin typeface="Montserrat"/>
              </a:rPr>
              <a:t>Our Pitch Video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280160"/>
            <a:ext cx="8531352" cy="4572000"/>
          </a:xfrm>
          <a:prstGeom prst="roundRect">
            <a:avLst>
              <a:gd name="adj" fmla="val 6000"/>
            </a:avLst>
          </a:prstGeom>
          <a:solidFill>
            <a:srgbClr val="4A5568"/>
          </a:solidFill>
          <a:ln w="18288">
            <a:solidFill>
              <a:srgbClr val="3FC1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30" b="0">
                <a:solidFill>
                  <a:srgbClr val="FFFFFF"/>
                </a:solidFill>
                <a:latin typeface="Montserrat"/>
              </a:rPr>
              <a:t>[ INSERT 3-MINUTE PITCH VIDEO HERE ]</a:t>
            </a:r>
          </a:p>
          <a:p>
            <a:pPr algn="ctr"/>
            <a:r>
              <a:rPr sz="1730" b="0">
                <a:solidFill>
                  <a:srgbClr val="FFFFFF"/>
                </a:solidFill>
                <a:latin typeface="Montserrat"/>
              </a:rPr>
              <a:t>Featuring both 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0">
                <a:solidFill>
                  <a:srgbClr val="FFFFFF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1">
                <a:solidFill>
                  <a:srgbClr val="0B3D5C"/>
                </a:solidFill>
                <a:latin typeface="Montserrat"/>
              </a:rPr>
              <a:t>AQUA 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0" b="1">
                <a:solidFill>
                  <a:srgbClr val="0B3D5C"/>
                </a:solidFill>
                <a:latin typeface="Montserrat"/>
              </a:rPr>
              <a:t>Investor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9377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20" b="1">
                <a:solidFill>
                  <a:srgbClr val="1F7A8C"/>
                </a:solidFill>
                <a:latin typeface="Montserrat"/>
              </a:rPr>
              <a:t>$150,000</a:t>
            </a:r>
          </a:p>
          <a:p>
            <a:r>
              <a:rPr sz="1730" b="1">
                <a:solidFill>
                  <a:srgbClr val="0B3D5C"/>
                </a:solidFill>
                <a:latin typeface="Montserrat"/>
              </a:rPr>
              <a:t>for 15% equity</a:t>
            </a:r>
          </a:p>
          <a:p>
            <a:r>
              <a:rPr sz="1440" b="0">
                <a:solidFill>
                  <a:srgbClr val="4A5568"/>
                </a:solidFill>
                <a:latin typeface="Inter"/>
              </a:rPr>
              <a:t>$1,000,000 post-money valuation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220" b="1">
                <a:solidFill>
                  <a:srgbClr val="0B3D5C"/>
                </a:solidFill>
                <a:latin typeface="Inter"/>
              </a:rPr>
              <a:t>Milestones: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5 pilot pools at camps and YMCAs, free through summer (April 2027), then converting to paid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31 paying customers by end of 2027 (includes the 5 converted pilots)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Safety certification testing and growth round (2028)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80" b="1">
                <a:solidFill>
                  <a:srgbClr val="0B3D5C"/>
                </a:solidFill>
                <a:latin typeface="Montserrat"/>
              </a:rPr>
              <a:t>Where the money goes (Year 1) — Total: $250,375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Hardware fleet (31 kits): $132,680 (53%)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Team: $36,000 (14%)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Engineering and testing: $29,000 (12%)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Marketing and trade shows: $18,100 (7%)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Insurance, legal, patents, software: $17,900 (7%)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• Loan payments: $16,695 (7%)</a:t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/>
            </a:r>
          </a:p>
          <a:p>
            <a:r>
              <a:rPr sz="1220" b="0">
                <a:solidFill>
                  <a:srgbClr val="4A5568"/>
                </a:solidFill>
                <a:latin typeface="Inter"/>
              </a:rPr>
              <a:t>Funded by: $150k investment + $75k equipment loan + $5k founders + $20,375 customer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10" b="0">
                <a:solidFill>
                  <a:srgbClr val="4A5568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