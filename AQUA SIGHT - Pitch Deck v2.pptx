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3" r:id="rId13"/>
    <p:sldId id="260" r:id="rId10"/>
    <p:sldId id="264" r:id="rId23"/>
    <p:sldId id="265" r:id="rId24"/>
    <p:sldId id="262" r:id="rId12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jI3DL3Xh/en+Jjwbq7h8JlN/oP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Montserrat-regular.fntdata"/><Relationship Id="rId15" Type="http://schemas.openxmlformats.org/officeDocument/2006/relationships/font" Target="fonts/Montserrat-bold.fntdata"/><Relationship Id="rId16" Type="http://schemas.openxmlformats.org/officeDocument/2006/relationships/font" Target="fonts/Montserrat-italic.fntdata"/><Relationship Id="rId17" Type="http://schemas.openxmlformats.org/officeDocument/2006/relationships/font" Target="fonts/Montserrat-boldItalic.fntdata"/><Relationship Id="rId18" Type="http://schemas.openxmlformats.org/officeDocument/2006/relationships/font" Target="fonts/Inter-regular.fntdata"/><Relationship Id="rId19" Type="http://schemas.openxmlformats.org/officeDocument/2006/relationships/font" Target="fonts/Inter-bold.fntdata"/><Relationship Id="rId20" Type="http://schemas.openxmlformats.org/officeDocument/2006/relationships/font" Target="fonts/Inter-italic.fntdata"/><Relationship Id="rId21" Type="http://schemas.openxmlformats.org/officeDocument/2006/relationships/font" Target="fonts/Inter-boldItalic.fntdata"/><Relationship Id="rId22" Type="http://customschemas.google.com/relationships/presentationmetadata" Target="metadata"/><Relationship Id="rId23" Type="http://schemas.openxmlformats.org/officeDocument/2006/relationships/slide" Target="slides/slide9.xml"/><Relationship Id="rId2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4ea781d83a37e174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h4ea781d83a37e174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videos/u/0/d/1b-xhb8GmfFvlIJHKNlJfIXbIrrbEMuLza22IveDEOho/play?usp=chrome_extension_sharing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5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333950" y="522225"/>
            <a:ext cx="6476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2000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AQUA</a:t>
            </a:r>
            <a:r>
              <a:rPr b="1" lang="en" sz="9700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48641" y="3566169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FC1C9"/>
                </a:solidFill>
                <a:latin typeface="Inter"/>
                <a:ea typeface="Inter"/>
                <a:cs typeface="Inter"/>
                <a:sym typeface="Inter"/>
              </a:rPr>
              <a:t>Portable AI drowning detection for community pools</a:t>
            </a:r>
            <a:endParaRPr b="0" i="0" sz="1200" u="none" cap="none" strike="noStrike">
              <a:solidFill>
                <a:srgbClr val="3FC1C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FC1C9"/>
                </a:solidFill>
                <a:latin typeface="Inter"/>
                <a:ea typeface="Inter"/>
                <a:cs typeface="Inter"/>
                <a:sym typeface="Inter"/>
              </a:rPr>
              <a:t>Westwood High School  |  Evan Gipson, Jordyn Choe</a:t>
            </a:r>
            <a:endParaRPr b="0" i="0" sz="1200" u="none" cap="none" strike="noStrike">
              <a:solidFill>
                <a:srgbClr val="3FC1C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FC1C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800" u="none" cap="none" strike="noStrike">
              <a:solidFill>
                <a:srgbClr val="3FC1C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333950" y="2044200"/>
            <a:ext cx="6476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8000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SIGHT</a:t>
            </a:r>
            <a:endParaRPr b="1" sz="8000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8000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418325" y="522225"/>
            <a:ext cx="6476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20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AQUA</a:t>
            </a:r>
            <a:r>
              <a:rPr b="1" lang="en" sz="9700">
                <a:solidFill>
                  <a:srgbClr val="D0E0E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2700" u="none" cap="none" strike="noStrike">
              <a:solidFill>
                <a:srgbClr val="D0E0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418325" y="2044200"/>
            <a:ext cx="6476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80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SIGHT</a:t>
            </a:r>
            <a:endParaRPr b="1" sz="80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8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2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17000" y="136075"/>
            <a:ext cx="9422950" cy="3278400"/>
          </a:xfrm>
          <a:custGeom>
            <a:rect b="b" l="l" r="r" t="t"/>
            <a:pathLst>
              <a:path extrusionOk="0" h="131136" w="376918">
                <a:moveTo>
                  <a:pt x="0" y="0"/>
                </a:moveTo>
                <a:cubicBezTo>
                  <a:pt x="4536" y="1134"/>
                  <a:pt x="23019" y="-2495"/>
                  <a:pt x="27215" y="6803"/>
                </a:cubicBezTo>
                <a:cubicBezTo>
                  <a:pt x="31411" y="16101"/>
                  <a:pt x="18371" y="44223"/>
                  <a:pt x="25174" y="55789"/>
                </a:cubicBezTo>
                <a:cubicBezTo>
                  <a:pt x="31978" y="67355"/>
                  <a:pt x="50687" y="80169"/>
                  <a:pt x="68036" y="76200"/>
                </a:cubicBezTo>
                <a:cubicBezTo>
                  <a:pt x="85385" y="72231"/>
                  <a:pt x="109084" y="36059"/>
                  <a:pt x="129268" y="31977"/>
                </a:cubicBezTo>
                <a:cubicBezTo>
                  <a:pt x="149452" y="27895"/>
                  <a:pt x="175420" y="36739"/>
                  <a:pt x="189140" y="51707"/>
                </a:cubicBezTo>
                <a:cubicBezTo>
                  <a:pt x="202861" y="66675"/>
                  <a:pt x="200932" y="108971"/>
                  <a:pt x="211591" y="121784"/>
                </a:cubicBezTo>
                <a:cubicBezTo>
                  <a:pt x="222250" y="134597"/>
                  <a:pt x="237785" y="131422"/>
                  <a:pt x="253093" y="128587"/>
                </a:cubicBezTo>
                <a:cubicBezTo>
                  <a:pt x="268401" y="125752"/>
                  <a:pt x="288586" y="112713"/>
                  <a:pt x="303440" y="104775"/>
                </a:cubicBezTo>
                <a:cubicBezTo>
                  <a:pt x="318295" y="96838"/>
                  <a:pt x="331901" y="81076"/>
                  <a:pt x="342220" y="80962"/>
                </a:cubicBezTo>
                <a:cubicBezTo>
                  <a:pt x="352539" y="80849"/>
                  <a:pt x="359569" y="99898"/>
                  <a:pt x="365352" y="104094"/>
                </a:cubicBezTo>
                <a:cubicBezTo>
                  <a:pt x="371135" y="108290"/>
                  <a:pt x="374990" y="105796"/>
                  <a:pt x="376918" y="106136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/>
          <a:p/>
        </p:txBody>
      </p:sp>
      <p:sp>
        <p:nvSpPr>
          <p:cNvPr id="61" name="Google Shape;61;p1"/>
          <p:cNvSpPr/>
          <p:nvPr/>
        </p:nvSpPr>
        <p:spPr>
          <a:xfrm>
            <a:off x="51025" y="4216777"/>
            <a:ext cx="3486825" cy="1004975"/>
          </a:xfrm>
          <a:custGeom>
            <a:rect b="b" l="l" r="r" t="t"/>
            <a:pathLst>
              <a:path extrusionOk="0" h="40199" w="139473">
                <a:moveTo>
                  <a:pt x="0" y="7541"/>
                </a:moveTo>
                <a:cubicBezTo>
                  <a:pt x="2835" y="6294"/>
                  <a:pt x="11566" y="512"/>
                  <a:pt x="17009" y="58"/>
                </a:cubicBezTo>
                <a:cubicBezTo>
                  <a:pt x="22452" y="-395"/>
                  <a:pt x="28008" y="1872"/>
                  <a:pt x="32657" y="4820"/>
                </a:cubicBezTo>
                <a:cubicBezTo>
                  <a:pt x="37306" y="7768"/>
                  <a:pt x="40255" y="13098"/>
                  <a:pt x="44904" y="17747"/>
                </a:cubicBezTo>
                <a:cubicBezTo>
                  <a:pt x="49553" y="22396"/>
                  <a:pt x="52501" y="31695"/>
                  <a:pt x="60552" y="32715"/>
                </a:cubicBezTo>
                <a:cubicBezTo>
                  <a:pt x="68603" y="33736"/>
                  <a:pt x="83684" y="25684"/>
                  <a:pt x="93209" y="23870"/>
                </a:cubicBezTo>
                <a:cubicBezTo>
                  <a:pt x="102734" y="22056"/>
                  <a:pt x="109991" y="19108"/>
                  <a:pt x="117702" y="21829"/>
                </a:cubicBezTo>
                <a:cubicBezTo>
                  <a:pt x="125413" y="24551"/>
                  <a:pt x="135845" y="37137"/>
                  <a:pt x="139473" y="40199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/>
        </p:nvSpPr>
        <p:spPr>
          <a:xfrm>
            <a:off x="548641" y="274321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" sz="1900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What’s the need?</a:t>
            </a:r>
            <a:endParaRPr b="1" i="0" sz="19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548641" y="96012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AQUA SIGHT</a:t>
            </a:r>
            <a:endParaRPr b="1" i="0" sz="8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1" y="822962"/>
            <a:ext cx="2496300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685802" y="960122"/>
            <a:ext cx="22221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i="0" sz="900" u="none" cap="none" strike="noStrike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 b="1" i="0" sz="12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About </a:t>
            </a:r>
            <a:r>
              <a:rPr lang="en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800 people </a:t>
            </a: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drown every day</a:t>
            </a:r>
            <a:r>
              <a:rPr lang="en"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worldwide. </a:t>
            </a: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It's the #1 cause of death for kids ages 1 to 4.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209552" y="822962"/>
            <a:ext cx="2496300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3346712" y="960122"/>
            <a:ext cx="22221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i="0" sz="900" u="none" cap="none" strike="noStrike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The Market Gap</a:t>
            </a:r>
            <a:endParaRPr b="1" i="0" sz="12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About 1 in 3 U.S. public pools has been hit by the lifeguard shortage, and detection systems cost $50,000+.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870463" y="822962"/>
            <a:ext cx="2496300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007623" y="960122"/>
            <a:ext cx="22221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i="0" sz="900" u="none" cap="none" strike="noStrike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Our Solution</a:t>
            </a:r>
            <a:endParaRPr b="1" i="0" sz="12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Smart wristbands plus AI underwater cameras that warn lifeguards before a swimmer goes under.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48641" y="2674627"/>
            <a:ext cx="2496300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685802" y="2811787"/>
            <a:ext cx="22221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i="0" sz="900" u="none" cap="none" strike="noStrike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How It Works</a:t>
            </a:r>
            <a:endParaRPr b="1" i="0" sz="12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Three layers of detection: surface behavior, wristband sensors, and camera confirmation.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209552" y="2674627"/>
            <a:ext cx="2496300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3346712" y="2811787"/>
            <a:ext cx="22221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1" i="0" sz="900" u="none" cap="none" strike="noStrike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Why We Win</a:t>
            </a:r>
            <a:endParaRPr b="1" i="0" sz="12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only portable system combining wristbands and cameras. No construction. No video recorded.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870463" y="2674627"/>
            <a:ext cx="2496300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6007623" y="2811787"/>
            <a:ext cx="22221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b="1" i="0" sz="900" u="none" cap="none" strike="noStrike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The Ask</a:t>
            </a:r>
            <a:endParaRPr b="1" i="0" sz="12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$150,000 for 15% equity ($1M post-money valuation).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548641" y="4560581"/>
            <a:ext cx="802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Market research: [ADD SURVEY RESULT, e.g., 'X of Y pool staff surveyed said they would want this at their pool']</a:t>
            </a:r>
            <a:endParaRPr b="0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/>
        </p:nvSpPr>
        <p:spPr>
          <a:xfrm>
            <a:off x="548641" y="96012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AQUA SIGHT</a:t>
            </a:r>
            <a:endParaRPr b="1" i="0" sz="8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548641" y="274321"/>
            <a:ext cx="802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Aqua Sight</a:t>
            </a:r>
            <a:endParaRPr b="1" i="0" sz="22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Three devices. Three layers of detection. One alarm that comes in time.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685802" y="1028703"/>
            <a:ext cx="32919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[ RENDER D: HERO SHOT ]</a:t>
            </a:r>
            <a:endParaRPr b="0" i="0" sz="11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1. Smart Wristband</a:t>
            </a:r>
            <a:endParaRPr b="0" i="0" sz="11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2. Underwater AI Camera</a:t>
            </a:r>
            <a:endParaRPr b="0" i="0" sz="11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3. Deck Hub</a:t>
            </a:r>
            <a:endParaRPr b="0" i="0" sz="11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(Clamps onto any pool in 15 mins. No construction.)</a:t>
            </a:r>
            <a:endParaRPr b="0" i="0" sz="11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4320551" y="891542"/>
            <a:ext cx="42519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How Aqua Sight detects drowning</a:t>
            </a:r>
            <a:endParaRPr b="1" i="0" sz="13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Layer 1: Surface Behavior AI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Cameras recognize Instinctive Drowning Response: body vertical, head back, arms pressing down. Warns lifeguards BEFORE submersion.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Layer 2: Smart Wristband Sensors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Tracks time underwater, sinking speed, and arm stoppage. Beginner &amp; toddler bands trigger faster.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Layer 3: Multi-Camera Confirmation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Cross-checks swimmer position &amp; confirms head depth. Catches swimmers on bottom, band or no band.</a:t>
            </a:r>
            <a:endParaRPr b="0" i="0" sz="10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8641" y="3977650"/>
            <a:ext cx="2674500" cy="384000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SAFE: Normal swimming</a:t>
            </a:r>
            <a:endParaRPr b="1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223268" y="3977650"/>
            <a:ext cx="2674500" cy="3840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B3D5C"/>
                </a:solidFill>
                <a:latin typeface="Inter"/>
                <a:ea typeface="Inter"/>
                <a:cs typeface="Inter"/>
                <a:sym typeface="Inter"/>
              </a:rPr>
              <a:t>WATCH: Smartwatch buzzes 'Check lane 3'</a:t>
            </a:r>
            <a:endParaRPr b="1" i="0" sz="800" u="none" cap="none" strike="noStrike">
              <a:solidFill>
                <a:srgbClr val="0B3D5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897895" y="3977650"/>
            <a:ext cx="2674500" cy="3840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ALARM: Siren, strobe, exact spot on dashboard</a:t>
            </a:r>
            <a:endParaRPr b="1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50" y="1028700"/>
            <a:ext cx="3291900" cy="260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548641" y="96012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AQUA SIGHT</a:t>
            </a:r>
            <a:endParaRPr b="1" i="0" sz="8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548641" y="274321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Product Cost</a:t>
            </a:r>
            <a:endParaRPr b="1" i="0" sz="19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8641" y="754382"/>
            <a:ext cx="2496300" cy="89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685802" y="822962"/>
            <a:ext cx="2222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BUY</a:t>
            </a:r>
            <a:endParaRPr b="1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$9,999</a:t>
            </a:r>
            <a:endParaRPr b="1" i="0" sz="19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one time + $99/mo</a:t>
            </a:r>
            <a:endParaRPr b="0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209552" y="754382"/>
            <a:ext cx="2496300" cy="891600"/>
          </a:xfrm>
          <a:prstGeom prst="roundRect">
            <a:avLst>
              <a:gd fmla="val 16667" name="adj"/>
            </a:avLst>
          </a:prstGeom>
          <a:solidFill>
            <a:srgbClr val="0B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3346712" y="822962"/>
            <a:ext cx="2222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FC1C9"/>
                </a:solidFill>
                <a:latin typeface="Inter"/>
                <a:ea typeface="Inter"/>
                <a:cs typeface="Inter"/>
                <a:sym typeface="Inter"/>
              </a:rPr>
              <a:t>SUBSCRIBE</a:t>
            </a:r>
            <a:endParaRPr b="1" i="0" sz="800" u="none" cap="none" strike="noStrike">
              <a:solidFill>
                <a:srgbClr val="3FC1C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$399</a:t>
            </a:r>
            <a:endParaRPr b="1" i="0" sz="19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 month, $0 upfront</a:t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870463" y="754382"/>
            <a:ext cx="2496300" cy="89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6007623" y="822962"/>
            <a:ext cx="2222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RENT</a:t>
            </a:r>
            <a:endParaRPr b="1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$299</a:t>
            </a:r>
            <a:endParaRPr b="1" i="0" sz="19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per weekend (meets/camps)</a:t>
            </a:r>
            <a:endParaRPr b="0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548641" y="1867784"/>
            <a:ext cx="41148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B3D5C"/>
                </a:solidFill>
                <a:latin typeface="Inter"/>
                <a:ea typeface="Inter"/>
                <a:cs typeface="Inter"/>
                <a:sym typeface="Inter"/>
              </a:rPr>
              <a:t>Unit Cost to Make (One Full Kit):</a:t>
            </a:r>
            <a:endParaRPr b="1" i="0" sz="1100" u="none" cap="none" strike="noStrike">
              <a:solidFill>
                <a:srgbClr val="0B3D5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4 underwater AI camera pods ($395 ea): $1,580</a:t>
            </a:r>
            <a:endParaRPr b="0" i="0" sz="11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1 deck hub with siren &amp; alarm: $200</a:t>
            </a:r>
            <a:endParaRPr b="0" i="0" sz="11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100 smart wristbands ($22 ea): $2,200</a:t>
            </a:r>
            <a:endParaRPr b="0" i="0" sz="11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2 band charging racks: $180</a:t>
            </a:r>
            <a:endParaRPr b="0" i="0" sz="11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Carry case and packaging: $120</a:t>
            </a:r>
            <a:endParaRPr b="0" i="0" sz="11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TOTAL COST PER KIT: $4,280</a:t>
            </a:r>
            <a:endParaRPr b="0" i="0" sz="11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(Plus $350 setup &amp; staff training per pool)</a:t>
            </a:r>
            <a:endParaRPr b="0" i="0" sz="11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4800612" y="1783084"/>
            <a:ext cx="37719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100" u="none" cap="none" strike="noStrike">
                <a:solidFill>
                  <a:srgbClr val="0B3D5C"/>
                </a:solidFill>
                <a:latin typeface="Inter"/>
                <a:ea typeface="Inter"/>
                <a:cs typeface="Inter"/>
                <a:sym typeface="Inter"/>
              </a:rPr>
              <a:t>Subscription Profitability:</a:t>
            </a:r>
            <a:endParaRPr b="1" i="0" sz="1100" u="none" cap="none" strike="noStrike">
              <a:solidFill>
                <a:srgbClr val="0B3D5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$399 monthly price minus $40 cloud/warranty costs</a:t>
            </a:r>
            <a:endParaRPr b="0" i="0" sz="12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Net: $359 per month per kit</a:t>
            </a:r>
            <a:endParaRPr b="0" i="0" sz="12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Kit + setup ($4,630) paid back in ~13 months, then pure margin</a:t>
            </a:r>
            <a:endParaRPr b="0" i="0" sz="12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Purchase Margin: $</a:t>
            </a:r>
            <a:r>
              <a:rPr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4679</a:t>
            </a:r>
            <a:r>
              <a:rPr b="0" i="0" lang="en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per system (</a:t>
            </a:r>
            <a:r>
              <a:rPr lang="en" sz="12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r>
              <a:rPr b="0" i="0" lang="en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%, after setup and fees)</a:t>
            </a:r>
            <a:endParaRPr b="0" i="0" sz="12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Rental Margin: $224 profit per weekend</a:t>
            </a:r>
            <a:endParaRPr b="0" i="0" sz="12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384066" y="4217446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" sz="1900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Profit from 2025-2026: $100,000</a:t>
            </a:r>
            <a:endParaRPr b="1" i="0" sz="19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/>
        </p:nvSpPr>
        <p:spPr>
          <a:xfrm>
            <a:off x="548641" y="96012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AQUA SIGHT</a:t>
            </a:r>
            <a:endParaRPr b="1" i="0" sz="8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548641" y="274321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28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Investor Request</a:t>
            </a:r>
            <a:endParaRPr b="1" i="0" sz="28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48641" y="941887"/>
            <a:ext cx="37032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1F7A8C"/>
                </a:solidFill>
                <a:latin typeface="Montserrat"/>
                <a:ea typeface="Montserrat"/>
                <a:cs typeface="Montserrat"/>
                <a:sym typeface="Montserrat"/>
              </a:rPr>
              <a:t>$150,000</a:t>
            </a:r>
            <a:endParaRPr b="1" i="0" sz="3200" u="none" cap="none" strike="noStrike">
              <a:solidFill>
                <a:srgbClr val="1F7A8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for 15% equity</a:t>
            </a:r>
            <a:endParaRPr b="1" i="0" sz="13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$1,000,000 post-money valuation</a:t>
            </a:r>
            <a:endParaRPr b="0" i="0" sz="11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Milestones we</a:t>
            </a:r>
            <a:r>
              <a:rPr lang="en" sz="1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’ve completed</a:t>
            </a:r>
            <a:r>
              <a:rPr b="0" i="0" lang="en" sz="17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7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5 pilot pools at camps and YMCAs, free through summer (April</a:t>
            </a:r>
            <a:r>
              <a:rPr lang="en" sz="1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-August 2026</a:t>
            </a:r>
            <a:r>
              <a:rPr b="0" i="0" lang="en" sz="17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), then converting to paid</a:t>
            </a:r>
            <a:endParaRPr b="0" i="0" sz="17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" sz="1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Round Rock, Leander, and Austin ISD pools utilizing our product.</a:t>
            </a:r>
            <a:endParaRPr sz="17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4572011" y="566549"/>
            <a:ext cx="4114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20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Where </a:t>
            </a:r>
            <a:r>
              <a:rPr b="1" lang="en" sz="2000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your </a:t>
            </a:r>
            <a:r>
              <a:rPr b="1" i="0" lang="en" sz="2000" u="none" cap="none" strike="noStrike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money goes (Year 1) — Total: $</a:t>
            </a:r>
            <a:r>
              <a:rPr b="1" lang="en" sz="2000">
                <a:solidFill>
                  <a:srgbClr val="0B3D5C"/>
                </a:solidFill>
                <a:latin typeface="Montserrat"/>
                <a:ea typeface="Montserrat"/>
                <a:cs typeface="Montserrat"/>
                <a:sym typeface="Montserrat"/>
              </a:rPr>
              <a:t>150,000</a:t>
            </a:r>
            <a:endParaRPr b="1" i="0" sz="2000" u="none" cap="none" strike="noStrike">
              <a:solidFill>
                <a:srgbClr val="0B3D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10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100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1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9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Har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dware fleet (</a:t>
            </a:r>
            <a:r>
              <a:rPr lang="en" sz="1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kits): $</a:t>
            </a:r>
            <a:r>
              <a:rPr lang="en" sz="1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79,500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(53%) </a:t>
            </a:r>
            <a:endParaRPr b="0" i="0" sz="1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Team: $</a:t>
            </a:r>
            <a:r>
              <a:rPr lang="en" sz="1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21,000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(14%)</a:t>
            </a:r>
            <a:endParaRPr b="0" i="0" sz="1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Engineering and testing: $</a:t>
            </a:r>
            <a:r>
              <a:rPr lang="en" sz="1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18,000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(12%)</a:t>
            </a:r>
            <a:endParaRPr b="0" i="0" sz="1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Marketing and trade shows: $</a:t>
            </a:r>
            <a:r>
              <a:rPr lang="en" sz="1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10,500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(7%)</a:t>
            </a:r>
            <a:endParaRPr b="0" i="0" sz="1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Insurance, legal, patents, software: $</a:t>
            </a:r>
            <a:r>
              <a:rPr lang="en" sz="1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10,500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(7%)</a:t>
            </a:r>
            <a:endParaRPr b="0" i="0" sz="1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 Loan payments: </a:t>
            </a:r>
            <a:r>
              <a:rPr lang="en" sz="1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$10,500</a:t>
            </a:r>
            <a:r>
              <a:rPr b="0" i="0" lang="en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(7%)</a:t>
            </a:r>
            <a:endParaRPr b="0" i="0" sz="1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800" u="none" cap="none" strike="noStrike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5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ea781d83a37e174_1_19"/>
          <p:cNvSpPr txBox="1"/>
          <p:nvPr/>
        </p:nvSpPr>
        <p:spPr>
          <a:xfrm>
            <a:off x="1333950" y="522225"/>
            <a:ext cx="6476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3800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Thank</a:t>
            </a:r>
            <a:endParaRPr b="0" i="0" sz="4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h4ea781d83a37e174_1_19"/>
          <p:cNvSpPr txBox="1"/>
          <p:nvPr/>
        </p:nvSpPr>
        <p:spPr>
          <a:xfrm>
            <a:off x="548641" y="3566169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FC1C9"/>
                </a:solidFill>
                <a:latin typeface="Inter"/>
                <a:ea typeface="Inter"/>
                <a:cs typeface="Inter"/>
                <a:sym typeface="Inter"/>
              </a:rPr>
              <a:t>Portable AI drowning detection for community pools</a:t>
            </a:r>
            <a:endParaRPr b="0" i="0" sz="1200" u="none" cap="none" strike="noStrike">
              <a:solidFill>
                <a:srgbClr val="3FC1C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FC1C9"/>
                </a:solidFill>
                <a:latin typeface="Inter"/>
                <a:ea typeface="Inter"/>
                <a:cs typeface="Inter"/>
                <a:sym typeface="Inter"/>
              </a:rPr>
              <a:t>Westwood High School  |  Evan Gipson, Jordyn Choe</a:t>
            </a:r>
            <a:endParaRPr b="0" i="0" sz="1200" u="none" cap="none" strike="noStrike">
              <a:solidFill>
                <a:srgbClr val="3FC1C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h4ea781d83a37e174_1_19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FC1C9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800" u="none" cap="none" strike="noStrike">
              <a:solidFill>
                <a:srgbClr val="3FC1C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h4ea781d83a37e174_1_19"/>
          <p:cNvSpPr txBox="1"/>
          <p:nvPr/>
        </p:nvSpPr>
        <p:spPr>
          <a:xfrm>
            <a:off x="1333950" y="2044200"/>
            <a:ext cx="6476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9800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You</a:t>
            </a:r>
            <a:endParaRPr b="1" sz="9800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9800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h4ea781d83a37e174_1_19"/>
          <p:cNvSpPr txBox="1"/>
          <p:nvPr/>
        </p:nvSpPr>
        <p:spPr>
          <a:xfrm>
            <a:off x="1418325" y="522225"/>
            <a:ext cx="6476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3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Thank</a:t>
            </a:r>
            <a:r>
              <a:rPr b="1" lang="en" sz="11500">
                <a:solidFill>
                  <a:srgbClr val="D0E0E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4500" u="none" cap="none" strike="noStrike">
              <a:solidFill>
                <a:srgbClr val="D0E0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h4ea781d83a37e174_1_19"/>
          <p:cNvSpPr txBox="1"/>
          <p:nvPr/>
        </p:nvSpPr>
        <p:spPr>
          <a:xfrm>
            <a:off x="1418325" y="2044188"/>
            <a:ext cx="6476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9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You</a:t>
            </a:r>
            <a:endParaRPr b="1" sz="9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9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h4ea781d83a37e174_1_19"/>
          <p:cNvSpPr/>
          <p:nvPr/>
        </p:nvSpPr>
        <p:spPr>
          <a:xfrm>
            <a:off x="-55100" y="-130125"/>
            <a:ext cx="9422950" cy="3278400"/>
          </a:xfrm>
          <a:custGeom>
            <a:rect b="b" l="l" r="r" t="t"/>
            <a:pathLst>
              <a:path extrusionOk="0" h="131136" w="376918">
                <a:moveTo>
                  <a:pt x="0" y="0"/>
                </a:moveTo>
                <a:cubicBezTo>
                  <a:pt x="4536" y="1134"/>
                  <a:pt x="23019" y="-2495"/>
                  <a:pt x="27215" y="6803"/>
                </a:cubicBezTo>
                <a:cubicBezTo>
                  <a:pt x="31411" y="16101"/>
                  <a:pt x="18371" y="44223"/>
                  <a:pt x="25174" y="55789"/>
                </a:cubicBezTo>
                <a:cubicBezTo>
                  <a:pt x="31978" y="67355"/>
                  <a:pt x="50687" y="80169"/>
                  <a:pt x="68036" y="76200"/>
                </a:cubicBezTo>
                <a:cubicBezTo>
                  <a:pt x="85385" y="72231"/>
                  <a:pt x="109084" y="36059"/>
                  <a:pt x="129268" y="31977"/>
                </a:cubicBezTo>
                <a:cubicBezTo>
                  <a:pt x="149452" y="27895"/>
                  <a:pt x="175420" y="36739"/>
                  <a:pt x="189140" y="51707"/>
                </a:cubicBezTo>
                <a:cubicBezTo>
                  <a:pt x="202861" y="66675"/>
                  <a:pt x="200932" y="108971"/>
                  <a:pt x="211591" y="121784"/>
                </a:cubicBezTo>
                <a:cubicBezTo>
                  <a:pt x="222250" y="134597"/>
                  <a:pt x="237785" y="131422"/>
                  <a:pt x="253093" y="128587"/>
                </a:cubicBezTo>
                <a:cubicBezTo>
                  <a:pt x="268401" y="125752"/>
                  <a:pt x="288586" y="112713"/>
                  <a:pt x="303440" y="104775"/>
                </a:cubicBezTo>
                <a:cubicBezTo>
                  <a:pt x="318295" y="96838"/>
                  <a:pt x="331901" y="81076"/>
                  <a:pt x="342220" y="80962"/>
                </a:cubicBezTo>
                <a:cubicBezTo>
                  <a:pt x="352539" y="80849"/>
                  <a:pt x="359569" y="99898"/>
                  <a:pt x="365352" y="104094"/>
                </a:cubicBezTo>
                <a:cubicBezTo>
                  <a:pt x="371135" y="108290"/>
                  <a:pt x="374990" y="105796"/>
                  <a:pt x="376918" y="106136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/>
          <a:p/>
        </p:txBody>
      </p:sp>
      <p:sp>
        <p:nvSpPr>
          <p:cNvPr id="139" name="Google Shape;139;h4ea781d83a37e174_1_19"/>
          <p:cNvSpPr/>
          <p:nvPr/>
        </p:nvSpPr>
        <p:spPr>
          <a:xfrm>
            <a:off x="51025" y="4216777"/>
            <a:ext cx="3486825" cy="1004975"/>
          </a:xfrm>
          <a:custGeom>
            <a:rect b="b" l="l" r="r" t="t"/>
            <a:pathLst>
              <a:path extrusionOk="0" h="40199" w="139473">
                <a:moveTo>
                  <a:pt x="0" y="7541"/>
                </a:moveTo>
                <a:cubicBezTo>
                  <a:pt x="2835" y="6294"/>
                  <a:pt x="11566" y="512"/>
                  <a:pt x="17009" y="58"/>
                </a:cubicBezTo>
                <a:cubicBezTo>
                  <a:pt x="22452" y="-395"/>
                  <a:pt x="28008" y="1872"/>
                  <a:pt x="32657" y="4820"/>
                </a:cubicBezTo>
                <a:cubicBezTo>
                  <a:pt x="37306" y="7768"/>
                  <a:pt x="40255" y="13098"/>
                  <a:pt x="44904" y="17747"/>
                </a:cubicBezTo>
                <a:cubicBezTo>
                  <a:pt x="49553" y="22396"/>
                  <a:pt x="52501" y="31695"/>
                  <a:pt x="60552" y="32715"/>
                </a:cubicBezTo>
                <a:cubicBezTo>
                  <a:pt x="68603" y="33736"/>
                  <a:pt x="83684" y="25684"/>
                  <a:pt x="93209" y="23870"/>
                </a:cubicBezTo>
                <a:cubicBezTo>
                  <a:pt x="102734" y="22056"/>
                  <a:pt x="109991" y="19108"/>
                  <a:pt x="117702" y="21829"/>
                </a:cubicBezTo>
                <a:cubicBezTo>
                  <a:pt x="125413" y="24551"/>
                  <a:pt x="135845" y="37137"/>
                  <a:pt x="139473" y="40199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5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548641" y="96012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FC1C9"/>
                </a:solidFill>
                <a:latin typeface="Montserrat"/>
                <a:ea typeface="Montserrat"/>
                <a:cs typeface="Montserrat"/>
                <a:sym typeface="Montserrat"/>
              </a:rPr>
              <a:t>AQUA SIGHT</a:t>
            </a:r>
            <a:endParaRPr b="1" i="0" sz="800" u="none" cap="none" strike="noStrike">
              <a:solidFill>
                <a:srgbClr val="3FC1C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48641" y="274321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Pitch Video</a:t>
            </a:r>
            <a:endParaRPr b="1" i="0" sz="19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371603" y="960122"/>
            <a:ext cx="6398400" cy="3429000"/>
          </a:xfrm>
          <a:prstGeom prst="roundRect">
            <a:avLst>
              <a:gd fmla="val 16667" name="adj"/>
            </a:avLst>
          </a:prstGeom>
          <a:solidFill>
            <a:srgbClr val="4A5568"/>
          </a:solidFill>
          <a:ln cap="flat" cmpd="sng" w="25400">
            <a:solidFill>
              <a:srgbClr val="3FC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1371603" y="2331726"/>
            <a:ext cx="639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5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Aqua Sight Video</a:t>
            </a:r>
            <a:endParaRPr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1" y="96012"/>
            <a:ext cx="1371600" cy="178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B3D5C"/>
                </a:solidFill>
                <a:latin typeface="Montserrat"/>
                <a:ea typeface="Montserrat"/>
                <a:cs typeface="Montserrat"/>
              </a:rPr>
              <a:t>AQUA SIGHT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1" y="274321"/>
            <a:ext cx="7315200" cy="41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B3D5C"/>
                </a:solidFill>
                <a:latin typeface="Montserrat"/>
                <a:ea typeface="Montserrat"/>
                <a:cs typeface="Montserrat"/>
              </a:rPr>
              <a:t>How Much We've Made So Far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7A8C"/>
                </a:solidFill>
                <a:latin typeface="Inter"/>
                <a:ea typeface="Inter"/>
                <a:cs typeface="Inter"/>
              </a:rPr>
              <a:t>Revenue to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3840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7A8C"/>
                </a:solidFill>
                <a:latin typeface="Montserrat"/>
                <a:ea typeface="Montserrat"/>
                <a:cs typeface="Montserrat"/>
              </a:rPr>
              <a:t>$5,185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840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Inter"/>
                <a:ea typeface="Inter"/>
                <a:cs typeface="Inter"/>
              </a:rPr>
              <a:t>Subscriptions: </a:t>
            </a:r>
            <a:r>
              <a:rPr sz="100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$2,793 (7 pools × $399, September)</a:t>
            </a:r>
          </a:p>
          <a:p>
            <a:pPr algn="l"/>
            <a:r>
              <a:rPr sz="1000" b="1">
                <a:solidFill>
                  <a:srgbClr val="4A5568"/>
                </a:solidFill>
                <a:latin typeface="Inter"/>
                <a:ea typeface="Inter"/>
                <a:cs typeface="Inter"/>
              </a:rPr>
              <a:t>Event rentals: </a:t>
            </a:r>
            <a:r>
              <a:rPr sz="100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$2,392 (8 summer weekends × $299)</a:t>
            </a:r>
          </a:p>
          <a:p>
            <a:pPr algn="l"/>
            <a:r>
              <a:rPr sz="80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/>
            <a:r>
              <a:rPr sz="1000" b="1">
                <a:solidFill>
                  <a:srgbClr val="4A5568"/>
                </a:solidFill>
                <a:latin typeface="Inter"/>
                <a:ea typeface="Inter"/>
                <a:cs typeface="Inter"/>
              </a:rPr>
              <a:t>Monthly recurring revenue today: </a:t>
            </a:r>
            <a:r>
              <a:rPr sz="100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$2,793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On pace for $33,516 a year, before any new customers.</a:t>
            </a:r>
          </a:p>
        </p:txBody>
      </p:sp>
      <p:cxnSp>
        <p:nvCxnSpPr>
          <p:cNvPr id="8" name="Timeline line"/>
          <p:cNvCxnSpPr/>
          <p:nvPr/>
        </p:nvCxnSpPr>
        <p:spPr>
          <a:xfrm>
            <a:off x="4892040" y="1394460"/>
            <a:ext cx="0" cy="2468880"/>
          </a:xfrm>
          <a:prstGeom prst="line">
            <a:avLst/>
          </a:prstGeom>
          <a:ln w="19050">
            <a:solidFill>
              <a:srgbClr val="3FC1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line card 1"/>
          <p:cNvSpPr/>
          <p:nvPr/>
        </p:nvSpPr>
        <p:spPr>
          <a:xfrm>
            <a:off x="5166360" y="914400"/>
            <a:ext cx="3429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0B3D5C"/>
                </a:solidFill>
                <a:latin typeface="Montserrat"/>
                <a:ea typeface="Montserrat"/>
                <a:cs typeface="Montserrat"/>
              </a:rPr>
              <a:t>Summer 2026</a:t>
            </a:r>
          </a:p>
          <a:p>
            <a:pPr algn="l"/>
            <a:r>
              <a:rPr sz="95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5 free pilot pools at camps and YMCAs</a:t>
            </a:r>
          </a:p>
        </p:txBody>
      </p:sp>
      <p:sp>
        <p:nvSpPr>
          <p:cNvPr id="10" name="Timeline dot 1"/>
          <p:cNvSpPr/>
          <p:nvPr/>
        </p:nvSpPr>
        <p:spPr>
          <a:xfrm>
            <a:off x="4818888" y="1321308"/>
            <a:ext cx="146304" cy="146304"/>
          </a:xfrm>
          <a:prstGeom prst="ellipse">
            <a:avLst/>
          </a:prstGeom>
          <a:solidFill>
            <a:srgbClr val="3F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meline card 2"/>
          <p:cNvSpPr/>
          <p:nvPr/>
        </p:nvSpPr>
        <p:spPr>
          <a:xfrm>
            <a:off x="5166360" y="2148840"/>
            <a:ext cx="3429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0B3D5C"/>
                </a:solidFill>
                <a:latin typeface="Montserrat"/>
                <a:ea typeface="Montserrat"/>
                <a:cs typeface="Montserrat"/>
              </a:rPr>
              <a:t>September 2026</a:t>
            </a:r>
          </a:p>
          <a:p>
            <a:pPr algn="l"/>
            <a:r>
              <a:rPr sz="95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4 of 5 pilots converted to paid subscriptions</a:t>
            </a:r>
          </a:p>
        </p:txBody>
      </p:sp>
      <p:sp>
        <p:nvSpPr>
          <p:cNvPr id="12" name="Timeline dot 2"/>
          <p:cNvSpPr/>
          <p:nvPr/>
        </p:nvSpPr>
        <p:spPr>
          <a:xfrm>
            <a:off x="4818888" y="2555748"/>
            <a:ext cx="146304" cy="146304"/>
          </a:xfrm>
          <a:prstGeom prst="ellipse">
            <a:avLst/>
          </a:prstGeom>
          <a:solidFill>
            <a:srgbClr val="3F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 card 3"/>
          <p:cNvSpPr/>
          <p:nvPr/>
        </p:nvSpPr>
        <p:spPr>
          <a:xfrm>
            <a:off x="5166360" y="3383280"/>
            <a:ext cx="3429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1">
                <a:solidFill>
                  <a:srgbClr val="0B3D5C"/>
                </a:solidFill>
                <a:latin typeface="Montserrat"/>
                <a:ea typeface="Montserrat"/>
                <a:cs typeface="Montserrat"/>
              </a:rPr>
              <a:t>Fall 2026</a:t>
            </a:r>
          </a:p>
          <a:p>
            <a:pPr algn="l"/>
            <a:r>
              <a:rPr sz="95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Round Rock, Leander, and Austin ISD pools signed on</a:t>
            </a:r>
          </a:p>
        </p:txBody>
      </p:sp>
      <p:sp>
        <p:nvSpPr>
          <p:cNvPr id="14" name="Timeline dot 3"/>
          <p:cNvSpPr/>
          <p:nvPr/>
        </p:nvSpPr>
        <p:spPr>
          <a:xfrm>
            <a:off x="4818888" y="3790188"/>
            <a:ext cx="146304" cy="146304"/>
          </a:xfrm>
          <a:prstGeom prst="ellipse">
            <a:avLst/>
          </a:prstGeom>
          <a:solidFill>
            <a:srgbClr val="3F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1" y="96012"/>
            <a:ext cx="1371600" cy="178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0B3D5C"/>
                </a:solidFill>
                <a:latin typeface="Montserrat"/>
                <a:ea typeface="Montserrat"/>
                <a:cs typeface="Montserrat"/>
              </a:rPr>
              <a:t>AQUA SIGHT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1" y="274321"/>
            <a:ext cx="7315200" cy="41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B3D5C"/>
                </a:solidFill>
                <a:latin typeface="Montserrat"/>
                <a:ea typeface="Montserrat"/>
                <a:cs typeface="Montserrat"/>
              </a:rPr>
              <a:t>How We Compare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8572521" y="4834902"/>
            <a:ext cx="342900" cy="21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  <p:graphicFrame>
        <p:nvGraphicFramePr>
          <p:cNvPr id="5" name="Comparison table"/>
          <p:cNvGraphicFramePr>
            <a:graphicFrameLocks noGrp="1"/>
          </p:cNvGraphicFramePr>
          <p:nvPr/>
        </p:nvGraphicFramePr>
        <p:xfrm>
          <a:off x="548640" y="914400"/>
          <a:ext cx="8046719" cy="2606040"/>
        </p:xfrm>
        <a:graphic>
          <a:graphicData uri="http://schemas.openxmlformats.org/drawingml/2006/table">
            <a:tbl>
              <a:tblPr firstRow="0" bandRow="0"/>
              <a:tblGrid>
                <a:gridCol w="2240280"/>
                <a:gridCol w="2514600"/>
                <a:gridCol w="1417320"/>
                <a:gridCol w="1874519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Competitor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Approach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Price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Installation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0B3D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Lynxight (one German pool)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AI cameras only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€50,000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Permanent install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Ellis (Fort Wayne school district)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Cameras only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$253,837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Permanent install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WAVE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Wearables only, can't see the swimmer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Up to $399/month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Wireless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Coral Manta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One camera, built for home pools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About $2,500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</a:rPr>
                        <a:t>Pool edge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3D5C"/>
                          </a:solidFill>
                          <a:latin typeface="Inter"/>
                          <a:ea typeface="Inter"/>
                          <a:cs typeface="Inter"/>
                        </a:rPr>
                        <a:t>Aqua Sight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3FC1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3D5C"/>
                          </a:solidFill>
                          <a:latin typeface="Inter"/>
                          <a:ea typeface="Inter"/>
                          <a:cs typeface="Inter"/>
                        </a:rPr>
                        <a:t>Cameras + 100 wristbands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3FC1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3D5C"/>
                          </a:solidFill>
                          <a:latin typeface="Inter"/>
                          <a:ea typeface="Inter"/>
                          <a:cs typeface="Inter"/>
                        </a:rPr>
                        <a:t>$399/month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3FC1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3D5C"/>
                          </a:solidFill>
                          <a:latin typeface="Inter"/>
                          <a:ea typeface="Inter"/>
                          <a:cs typeface="Inter"/>
                        </a:rPr>
                        <a:t>Clamps on in 15 minutes</a:t>
                      </a:r>
                    </a:p>
                  </a:txBody>
                  <a:tcPr anchor="ctr" marL="91440" marR="91440" marT="27432" marB="27432">
                    <a:lnL w="6350" cap="flat" cmpd="sng" algn="ctr">
                      <a:solidFill>
                        <a:srgbClr val="E2E8F0"/>
                      </a:solidFill>
                    </a:lnL>
                    <a:lnR w="6350" cap="flat" cmpd="sng" algn="ctr">
                      <a:solidFill>
                        <a:srgbClr val="E2E8F0"/>
                      </a:solidFill>
                    </a:lnR>
                    <a:lnT w="6350" cap="flat" cmpd="sng" algn="ctr">
                      <a:solidFill>
                        <a:srgbClr val="E2E8F0"/>
                      </a:solidFill>
                    </a:lnT>
                    <a:lnB w="6350" cap="flat" cmpd="sng" algn="ctr">
                      <a:solidFill>
                        <a:srgbClr val="E2E8F0"/>
                      </a:solidFill>
                    </a:lnB>
                    <a:solidFill>
                      <a:srgbClr val="3FC1C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3D5C"/>
                </a:solidFill>
                <a:latin typeface="Inter"/>
                <a:ea typeface="Inter"/>
                <a:cs typeface="Inter"/>
              </a:rPr>
              <a:t>The only portable system that combines wristbands and AI cameras.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98848"/>
            <a:ext cx="6858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4A5568"/>
                </a:solidFill>
                <a:latin typeface="Inter"/>
                <a:ea typeface="Inter"/>
                <a:cs typeface="Inter"/>
              </a:rPr>
              <a:t>Sources: KölnBäder; Fort Wayne Journal Gazette; WAVE published pricing; GovTech.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